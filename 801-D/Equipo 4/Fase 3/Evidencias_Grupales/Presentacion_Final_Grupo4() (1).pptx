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L3BpZrNbq4gvSwauZegzr4iYe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C71A8E-E596-431D-80C3-B9BA96FB22E7}">
  <a:tblStyle styleId="{8FC71A8E-E596-431D-80C3-B9BA96FB22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1503" autoAdjust="0"/>
  </p:normalViewPr>
  <p:slideViewPr>
    <p:cSldViewPr snapToGrid="0">
      <p:cViewPr varScale="1">
        <p:scale>
          <a:sx n="75" d="100"/>
          <a:sy n="75" d="100"/>
        </p:scale>
        <p:origin x="97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jpg"/><Relationship Id="rId7" Type="http://schemas.openxmlformats.org/officeDocument/2006/relationships/image" Target="../media/image12.png"/><Relationship Id="rId12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2000" cy="187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POZOS APP</a:t>
            </a:r>
            <a:r>
              <a:rPr lang="es-CL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Carrera: Ingeniería en Informática – DUOC UC – Sede Melipilla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Sección: 801D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101E7DC-A09E-635C-35ED-62A051A77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2152" y="4361543"/>
            <a:ext cx="3120878" cy="249645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Martin Nenen Carrasco</a:t>
              </a:r>
              <a:endParaRPr sz="2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Software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(Frontend, Backend &amp; QA)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Felipe González Araya</a:t>
              </a:r>
              <a:endParaRPr sz="2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ES" sz="20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(Visión del producto y priorización)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Maximiliano Hormaeche Rojas</a:t>
              </a:r>
              <a:endParaRPr sz="26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CL" sz="20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ES" sz="2000" b="0" i="0" u="none" strike="noStrike" cap="none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(Facilitador y eliminación de impedimentos)</a:t>
              </a:r>
              <a:endParaRPr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Pozos App</a:t>
            </a:r>
            <a:r>
              <a:rPr lang="es-CL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DF1637E-054E-86F4-0A6B-AD96BF921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978" y="1846774"/>
            <a:ext cx="1526699" cy="1087638"/>
          </a:xfrm>
          <a:prstGeom prst="rect">
            <a:avLst/>
          </a:prstGeom>
        </p:spPr>
      </p:pic>
      <p:pic>
        <p:nvPicPr>
          <p:cNvPr id="4" name="Imagen 3" descr="Un hombre con camisa y corbata&#10;&#10;El contenido generado por IA puede ser incorrecto.">
            <a:extLst>
              <a:ext uri="{FF2B5EF4-FFF2-40B4-BE49-F238E27FC236}">
                <a16:creationId xmlns:a16="http://schemas.microsoft.com/office/drawing/2014/main" id="{EA163D4E-57EC-F1A7-0D1A-41ADD7DABF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977" y="3283671"/>
            <a:ext cx="1526697" cy="120484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FD7ED70-0399-499E-A801-6546C4607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6977" y="4837778"/>
            <a:ext cx="1573113" cy="108763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65305FE-2009-D5E7-0276-B32064B22F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547" y="137418"/>
            <a:ext cx="628573" cy="621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/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 Las personas en las zonas rurales de Melipilla las cuales no tienen una visión de su gasto de agua en lo pozos, este mismo problema lo tienen los agricultores debido a esto en muchos sitios de la zona se corta el agua a una hora en especifico: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manual de la información(Planillas en Excel).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Perdida de datos.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Falta de validación con datos exactos.</a:t>
            </a: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</a:p>
          <a:p>
            <a:pPr lvl="0" algn="ctr"/>
            <a:endParaRPr lang="es-CL" sz="1600" dirty="0"/>
          </a:p>
          <a:p>
            <a:pPr lvl="0" algn="ctr"/>
            <a:r>
              <a:rPr lang="es-C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Nuestra Solución: "Pozos App"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 un software Web y móvil el cual sea intuitivo para los usuarios y así ellos poder llevar sus pozos medidos con umbrales y ver cuanto se gasta en un día o en el tiempo que ellos estimen 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endParaRPr lang="es-C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del ingreso de datos en tiempo real.</a:t>
            </a:r>
          </a:p>
          <a:p>
            <a:pPr lvl="0" algn="just"/>
            <a:endParaRPr lang="es-E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just"/>
            <a:r>
              <a:rPr lang="es-E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en la nube (Firebase).</a:t>
            </a:r>
            <a:endParaRPr lang="es-CL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32B943E-1CF1-C36D-232B-095C4BB0BC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176" y="137418"/>
            <a:ext cx="608169" cy="60084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móvil para optimizar la gestión y control de datos en el monitoreo de pozos.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10962967" cy="191804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Digitalizar los formularios de captura de datos(crear pozos, dashboard de los pozos, etc.)</a:t>
            </a:r>
          </a:p>
          <a:p>
            <a:pPr lvl="0" algn="ctr"/>
            <a:endParaRPr lang="es-E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una base de datos centralizada y segura (Firebase).</a:t>
            </a:r>
          </a:p>
          <a:p>
            <a:pPr lvl="0" algn="ctr"/>
            <a:endParaRPr lang="es-E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funcionalidades de geolocalización para ver donde se encuentran los pozos.</a:t>
            </a:r>
          </a:p>
          <a:p>
            <a:pPr lvl="0" algn="ctr"/>
            <a:endParaRPr lang="es-E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/>
            <a:r>
              <a:rPr lang="es-E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Generar reportes automatizados para la toma de decisiones.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6D1D623-BB74-C412-F090-EC800C652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867" y="137418"/>
            <a:ext cx="638733" cy="63103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32" name="Google Shape;132;p5"/>
          <p:cNvSpPr txBox="1"/>
          <p:nvPr/>
        </p:nvSpPr>
        <p:spPr>
          <a:xfrm>
            <a:off x="1" y="899638"/>
            <a:ext cx="12191999" cy="5509160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Autenticación de usuarios(registro y login seguros).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CRUD de pozos(Crear, Leer, Editar, Borrar).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Visualización de mapas e integración de localización de pozos a través de coordenadas.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S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Generación de reportes operativos.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limitaciones del proyecto: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limitado a dispositivos Android(APK).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sensores por partes de terceros.</a:t>
            </a:r>
          </a:p>
        </p:txBody>
      </p:sp>
      <p:cxnSp>
        <p:nvCxnSpPr>
          <p:cNvPr id="133" name="Google Shape;13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575ABF18-E216-25C4-F842-B8ADD4F4F650}"/>
              </a:ext>
            </a:extLst>
          </p:cNvPr>
          <p:cNvSpPr/>
          <p:nvPr/>
        </p:nvSpPr>
        <p:spPr>
          <a:xfrm>
            <a:off x="592058" y="1606646"/>
            <a:ext cx="11479338" cy="2822141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350749B-F94A-D84D-0EDF-63580D364410}"/>
              </a:ext>
            </a:extLst>
          </p:cNvPr>
          <p:cNvSpPr/>
          <p:nvPr/>
        </p:nvSpPr>
        <p:spPr>
          <a:xfrm>
            <a:off x="1144645" y="5042531"/>
            <a:ext cx="10768913" cy="1282452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739BEF-5CF6-E2B1-713C-1EF19AF16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868" y="126762"/>
            <a:ext cx="638732" cy="63103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40" name="Google Shape;140;p6"/>
          <p:cNvSpPr txBox="1"/>
          <p:nvPr/>
        </p:nvSpPr>
        <p:spPr>
          <a:xfrm>
            <a:off x="0" y="1432655"/>
            <a:ext cx="12191999" cy="8956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Utilizada: Metodología ágil.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E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utilizadas: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Trello: 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Tablero para gestión de tareas.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versiones y repositorio.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Reuniones: 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Sprint </a:t>
            </a:r>
            <a:r>
              <a:rPr lang="es-CL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Planning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s-CL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Daily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CL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Standups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Sprint </a:t>
            </a:r>
            <a:r>
              <a:rPr lang="es-CL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r>
              <a:rPr lang="es-CL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148;p6">
            <a:extLst>
              <a:ext uri="{FF2B5EF4-FFF2-40B4-BE49-F238E27FC236}">
                <a16:creationId xmlns:a16="http://schemas.microsoft.com/office/drawing/2014/main" id="{E295AAA3-4350-BE46-DEF4-ADCD79D4FD1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5431" y="2311483"/>
            <a:ext cx="4512871" cy="389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CE3734F-CFFB-5C77-8816-236A79155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3747" y="137417"/>
            <a:ext cx="628573" cy="6210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48" name="Google Shape;148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38F7C69-ACE8-AF49-7628-49CCD8FAA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041928"/>
              </p:ext>
            </p:extLst>
          </p:nvPr>
        </p:nvGraphicFramePr>
        <p:xfrm>
          <a:off x="838200" y="2507774"/>
          <a:ext cx="10515600" cy="34137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1533764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539174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808953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065979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Sprint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/>
                        <a:t>Enfoque Principal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Periodo en semanas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Avance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07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Sprint 0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Conceptualización y Diseño Inicial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Primera semana 1-4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1</a:t>
                      </a:r>
                      <a:r>
                        <a:rPr lang="es-CL" dirty="0"/>
                        <a:t>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14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Sprint 1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Infraestructura y Monitoreo Básico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Segunda semana 5-7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</a:t>
                      </a:r>
                      <a:r>
                        <a:rPr lang="es-CL" dirty="0"/>
                        <a:t>00%</a:t>
                      </a:r>
                    </a:p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081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Sprint 2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Alertas y Notificaciones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dirty="0"/>
                        <a:t>Tercera semana 7-9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</a:t>
                      </a:r>
                      <a:r>
                        <a:rPr lang="es-CL" dirty="0"/>
                        <a:t>00%</a:t>
                      </a:r>
                    </a:p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8250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Sprint 3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b="1"/>
                        <a:t>Gestión de Usuarios y Umbrales</a:t>
                      </a:r>
                      <a:endParaRPr lang="es-MX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C</a:t>
                      </a:r>
                      <a:r>
                        <a:rPr lang="es-CL" dirty="0" err="1"/>
                        <a:t>uarta</a:t>
                      </a:r>
                      <a:r>
                        <a:rPr lang="es-CL" dirty="0"/>
                        <a:t> semana 9-10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</a:t>
                      </a:r>
                      <a:r>
                        <a:rPr lang="es-CL" dirty="0"/>
                        <a:t>00%</a:t>
                      </a:r>
                    </a:p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370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 dirty="0"/>
                        <a:t>Sprint 4</a:t>
                      </a: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Reportes y Análisis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C</a:t>
                      </a:r>
                      <a:r>
                        <a:rPr lang="es-CL" dirty="0" err="1"/>
                        <a:t>uarta</a:t>
                      </a:r>
                      <a:r>
                        <a:rPr lang="es-CL" dirty="0"/>
                        <a:t> semana 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</a:t>
                      </a:r>
                      <a:r>
                        <a:rPr lang="es-CL" dirty="0"/>
                        <a:t>00%</a:t>
                      </a:r>
                    </a:p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39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Sprint 5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b="1"/>
                        <a:t>Cierre, Pruebas y Despliegue</a:t>
                      </a:r>
                      <a:endParaRPr lang="es-CL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Q</a:t>
                      </a:r>
                      <a:r>
                        <a:rPr lang="es-CL" dirty="0" err="1"/>
                        <a:t>uinta</a:t>
                      </a:r>
                      <a:r>
                        <a:rPr lang="es-CL" dirty="0"/>
                        <a:t> semana 11-15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dirty="0"/>
                        <a:t>1</a:t>
                      </a:r>
                      <a:r>
                        <a:rPr lang="es-CL" dirty="0"/>
                        <a:t>00%</a:t>
                      </a:r>
                    </a:p>
                    <a:p>
                      <a:pPr>
                        <a:buNone/>
                      </a:pPr>
                      <a:endParaRPr lang="es-CL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5001312"/>
                  </a:ext>
                </a:extLst>
              </a:tr>
            </a:tbl>
          </a:graphicData>
        </a:graphic>
      </p:graphicFrame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BA609A5-7617-6433-7710-059B258F6E5F}"/>
              </a:ext>
            </a:extLst>
          </p:cNvPr>
          <p:cNvSpPr/>
          <p:nvPr/>
        </p:nvSpPr>
        <p:spPr>
          <a:xfrm>
            <a:off x="381548" y="2256397"/>
            <a:ext cx="10972252" cy="3960207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A0E033-92C0-4D90-A057-7B71EE2A2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508" y="69419"/>
            <a:ext cx="679372" cy="67118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57" name="Google Shape;157;p8"/>
          <p:cNvSpPr txBox="1"/>
          <p:nvPr/>
        </p:nvSpPr>
        <p:spPr>
          <a:xfrm>
            <a:off x="1" y="710082"/>
            <a:ext cx="1219199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dirty="0"/>
          </a:p>
        </p:txBody>
      </p:sp>
      <p:cxnSp>
        <p:nvCxnSpPr>
          <p:cNvPr id="158" name="Google Shape;15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id="{0FECE684-D805-C58A-804F-8DAD54A9A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94" y="1376139"/>
            <a:ext cx="10105666" cy="514902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D8B8302-F72F-C679-1DA1-11A7A5BE8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241" y="89451"/>
            <a:ext cx="679519" cy="67133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65" name="Google Shape;165;p9"/>
          <p:cNvSpPr txBox="1"/>
          <p:nvPr/>
        </p:nvSpPr>
        <p:spPr>
          <a:xfrm>
            <a:off x="825909" y="507949"/>
            <a:ext cx="985192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dirty="0"/>
          </a:p>
        </p:txBody>
      </p:sp>
      <p:cxnSp>
        <p:nvCxnSpPr>
          <p:cNvPr id="166" name="Google Shape;166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1D91A2A1-3EC9-923B-970F-10A3A7EAE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027" y="137418"/>
            <a:ext cx="608253" cy="6009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75A44F-CE2D-A518-F232-AD7E0BEBB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1280" y="1154279"/>
            <a:ext cx="10840720" cy="570372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“Pozos App”</a:t>
            </a:r>
            <a:endParaRPr dirty="0"/>
          </a:p>
        </p:txBody>
      </p:sp>
      <p:sp>
        <p:nvSpPr>
          <p:cNvPr id="173" name="Google Shape;173;p10"/>
          <p:cNvSpPr txBox="1"/>
          <p:nvPr/>
        </p:nvSpPr>
        <p:spPr>
          <a:xfrm>
            <a:off x="136189" y="899638"/>
            <a:ext cx="11964372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s-CL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Lenguajes: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s-CL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" name="Google Shape;184;p10">
            <a:extLst>
              <a:ext uri="{FF2B5EF4-FFF2-40B4-BE49-F238E27FC236}">
                <a16:creationId xmlns:a16="http://schemas.microsoft.com/office/drawing/2014/main" id="{661605DD-0F40-5E64-E245-426DCF38448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0339" y="1514323"/>
            <a:ext cx="3949425" cy="1344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88;p10">
            <a:extLst>
              <a:ext uri="{FF2B5EF4-FFF2-40B4-BE49-F238E27FC236}">
                <a16:creationId xmlns:a16="http://schemas.microsoft.com/office/drawing/2014/main" id="{4AC28664-B353-BCAB-D534-64A86E4B88D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9457" y="2828659"/>
            <a:ext cx="4044421" cy="12006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89;p10">
            <a:extLst>
              <a:ext uri="{FF2B5EF4-FFF2-40B4-BE49-F238E27FC236}">
                <a16:creationId xmlns:a16="http://schemas.microsoft.com/office/drawing/2014/main" id="{BCCF554F-4CD7-D7BD-F818-9D44297D83F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19764" y="2858885"/>
            <a:ext cx="3666952" cy="10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86;p10">
            <a:extLst>
              <a:ext uri="{FF2B5EF4-FFF2-40B4-BE49-F238E27FC236}">
                <a16:creationId xmlns:a16="http://schemas.microsoft.com/office/drawing/2014/main" id="{6CF2938B-9BC5-B855-8B01-50E916FBBBA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t="20431" b="10450"/>
          <a:stretch/>
        </p:blipFill>
        <p:spPr>
          <a:xfrm>
            <a:off x="1612128" y="4029340"/>
            <a:ext cx="3048726" cy="109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7;p10">
            <a:extLst>
              <a:ext uri="{FF2B5EF4-FFF2-40B4-BE49-F238E27FC236}">
                <a16:creationId xmlns:a16="http://schemas.microsoft.com/office/drawing/2014/main" id="{47C635BA-3C79-82A1-F891-9BE178590BC7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81089" y="3958160"/>
            <a:ext cx="2708602" cy="109927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AutoShape 2">
            <a:extLst>
              <a:ext uri="{FF2B5EF4-FFF2-40B4-BE49-F238E27FC236}">
                <a16:creationId xmlns:a16="http://schemas.microsoft.com/office/drawing/2014/main" id="{66FF483A-4D05-6489-A25E-8765AB2D23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72A2298-71EA-B4D1-96CE-CE5CA9576B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29606" y="5199795"/>
            <a:ext cx="2001015" cy="1359741"/>
          </a:xfrm>
          <a:prstGeom prst="rect">
            <a:avLst/>
          </a:prstGeom>
        </p:spPr>
      </p:pic>
      <p:pic>
        <p:nvPicPr>
          <p:cNvPr id="11" name="Imagen 10" descr="Logotipo&#10;&#10;El contenido generado por IA puede ser incorrecto.">
            <a:extLst>
              <a:ext uri="{FF2B5EF4-FFF2-40B4-BE49-F238E27FC236}">
                <a16:creationId xmlns:a16="http://schemas.microsoft.com/office/drawing/2014/main" id="{5C326BFF-5CEC-3E85-E9C0-4560448656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5115674"/>
            <a:ext cx="4533995" cy="1385622"/>
          </a:xfrm>
          <a:prstGeom prst="rect">
            <a:avLst/>
          </a:prstGeom>
        </p:spPr>
      </p:pic>
      <p:pic>
        <p:nvPicPr>
          <p:cNvPr id="13" name="Imagen 12" descr="Logotipo&#10;&#10;El contenido generado por IA puede ser incorrecto.">
            <a:extLst>
              <a:ext uri="{FF2B5EF4-FFF2-40B4-BE49-F238E27FC236}">
                <a16:creationId xmlns:a16="http://schemas.microsoft.com/office/drawing/2014/main" id="{310CA6CE-D309-D1DB-A514-F0D749669D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85789" y="5128615"/>
            <a:ext cx="2162611" cy="135974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960E4EF-3B3C-9134-256D-51E71D8D8BF0}"/>
              </a:ext>
            </a:extLst>
          </p:cNvPr>
          <p:cNvSpPr/>
          <p:nvPr/>
        </p:nvSpPr>
        <p:spPr>
          <a:xfrm>
            <a:off x="136189" y="1465043"/>
            <a:ext cx="4524666" cy="139384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749EE98-D659-DEEA-423B-4A3B5C7A4023}"/>
              </a:ext>
            </a:extLst>
          </p:cNvPr>
          <p:cNvSpPr/>
          <p:nvPr/>
        </p:nvSpPr>
        <p:spPr>
          <a:xfrm>
            <a:off x="136188" y="2940553"/>
            <a:ext cx="9060439" cy="105856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13CDFD6-C3C0-553A-1AB8-00A6F4BF83CC}"/>
              </a:ext>
            </a:extLst>
          </p:cNvPr>
          <p:cNvSpPr/>
          <p:nvPr/>
        </p:nvSpPr>
        <p:spPr>
          <a:xfrm>
            <a:off x="136188" y="4078619"/>
            <a:ext cx="8343392" cy="104999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2CD5BD2-322F-8840-B599-F7C59D9E5227}"/>
              </a:ext>
            </a:extLst>
          </p:cNvPr>
          <p:cNvSpPr/>
          <p:nvPr/>
        </p:nvSpPr>
        <p:spPr>
          <a:xfrm>
            <a:off x="190774" y="5256155"/>
            <a:ext cx="11531966" cy="135974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B503C67-5591-C5EC-B1CD-C76AC28808F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0547" y="136916"/>
            <a:ext cx="598093" cy="59088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/>
        </p:nvSpPr>
        <p:spPr>
          <a:xfrm>
            <a:off x="1524000" y="4914855"/>
            <a:ext cx="9144000" cy="78670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7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DEMOSTRACIÓN DEL RESULTADO DEL PROYECTO</a:t>
            </a:r>
            <a:endParaRPr lang="en-US" sz="1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7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Exposición del sistema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BCB8FA3-4DCD-34ED-1D0E-AC4B1AA53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438" y="876301"/>
            <a:ext cx="3996216" cy="3716481"/>
          </a:xfrm>
          <a:prstGeom prst="rect">
            <a:avLst/>
          </a:prstGeom>
        </p:spPr>
      </p:pic>
      <p:pic>
        <p:nvPicPr>
          <p:cNvPr id="179" name="Google Shape;179;p11" descr="EscuelaIT Duoc UC - Escuela de Informática y Telecomunicaciones Duoc UC - Duoc  UC | LinkedIn"/>
          <p:cNvPicPr preferRelativeResize="0"/>
          <p:nvPr/>
        </p:nvPicPr>
        <p:blipFill rotWithShape="1">
          <a:blip r:embed="rId4"/>
          <a:stretch/>
        </p:blipFill>
        <p:spPr>
          <a:xfrm>
            <a:off x="6225444" y="2095229"/>
            <a:ext cx="5114501" cy="1278625"/>
          </a:xfrm>
          <a:prstGeom prst="rect">
            <a:avLst/>
          </a:prstGeom>
          <a:noFill/>
        </p:spPr>
      </p:pic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0F380AC-9202-53E9-8D39-90E7C2AC7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B9334AC3-F97B-AAEB-193C-D6FEF2851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DCF0F8F8-6D3A-38F2-F9D7-AA175316B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2"/>
          <p:cNvSpPr txBox="1"/>
          <p:nvPr/>
        </p:nvSpPr>
        <p:spPr>
          <a:xfrm>
            <a:off x="1" y="1459095"/>
            <a:ext cx="12191999" cy="94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CL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funcional desplegada en Android(APK).</a:t>
            </a: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exitosa con Firebase y Google Maps.</a:t>
            </a: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de usuarios y seguridad de datos implementada.</a:t>
            </a: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ctr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Cumplimiento de los 5 Sprints planificados.</a:t>
            </a:r>
            <a:endParaRPr lang="es-CL"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6AC21D1-014C-A026-EF50-2A8604A75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831" y="73587"/>
            <a:ext cx="674329" cy="666204"/>
          </a:xfrm>
          <a:prstGeom prst="rect">
            <a:avLst/>
          </a:prstGeom>
        </p:spPr>
      </p:pic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30B876F-57B8-7B48-D847-00B2F1A94E44}"/>
              </a:ext>
            </a:extLst>
          </p:cNvPr>
          <p:cNvSpPr/>
          <p:nvPr/>
        </p:nvSpPr>
        <p:spPr>
          <a:xfrm>
            <a:off x="1781735" y="992902"/>
            <a:ext cx="9157447" cy="479605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3"/>
          <p:cNvSpPr txBox="1"/>
          <p:nvPr/>
        </p:nvSpPr>
        <p:spPr>
          <a:xfrm>
            <a:off x="1" y="1360773"/>
            <a:ext cx="12191999" cy="11141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Técnicos:</a:t>
            </a:r>
          </a:p>
          <a:p>
            <a:pPr algn="ctr"/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Complejidad en la integración de la API de Google Maps.</a:t>
            </a:r>
          </a:p>
          <a:p>
            <a:pPr algn="ctr"/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Conflictos de versiones entre Android Studio, Gradle y librerías.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s-E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Gestión:</a:t>
            </a:r>
          </a:p>
          <a:p>
            <a:pPr algn="ctr"/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s-E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Coordinación de horarios del equipo y situaciones personales externas que impactaron la velocidad de algunos Sprints.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4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FB8503B-931C-3CD3-E5D1-835D79BCAC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443" y="73587"/>
            <a:ext cx="717238" cy="70859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"/>
          <p:cNvSpPr txBox="1"/>
          <p:nvPr/>
        </p:nvSpPr>
        <p:spPr>
          <a:xfrm>
            <a:off x="1524000" y="4914855"/>
            <a:ext cx="9144000" cy="78670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PREGUNTAS DE LA COMISIÓN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3E31A03-3417-B93D-BBE9-C25FAAF21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438" y="876301"/>
            <a:ext cx="3996216" cy="3716481"/>
          </a:xfrm>
          <a:prstGeom prst="rect">
            <a:avLst/>
          </a:prstGeom>
        </p:spPr>
      </p:pic>
      <p:pic>
        <p:nvPicPr>
          <p:cNvPr id="197" name="Google Shape;197;p14" descr="EscuelaIT Duoc UC - Escuela de Informática y Telecomunicaciones Duoc UC - Duoc  UC | LinkedIn"/>
          <p:cNvPicPr preferRelativeResize="0"/>
          <p:nvPr/>
        </p:nvPicPr>
        <p:blipFill rotWithShape="1">
          <a:blip r:embed="rId4"/>
          <a:stretch/>
        </p:blipFill>
        <p:spPr>
          <a:xfrm>
            <a:off x="6225444" y="2095229"/>
            <a:ext cx="5114501" cy="1278625"/>
          </a:xfrm>
          <a:prstGeom prst="rect">
            <a:avLst/>
          </a:prstGeom>
          <a:noFill/>
        </p:spPr>
      </p:pic>
      <p:grpSp>
        <p:nvGrpSpPr>
          <p:cNvPr id="203" name="Group 202">
            <a:extLst>
              <a:ext uri="{FF2B5EF4-FFF2-40B4-BE49-F238E27FC236}">
                <a16:creationId xmlns:a16="http://schemas.microsoft.com/office/drawing/2014/main" id="{B0F380AC-9202-53E9-8D39-90E7C2AC7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B9334AC3-F97B-AAEB-193C-D6FEF2851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DCF0F8F8-6D3A-38F2-F9D7-AA175316B2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642</Words>
  <Application>Microsoft Office PowerPoint</Application>
  <PresentationFormat>Panorámica</PresentationFormat>
  <Paragraphs>168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MARTIN . NENEN CARRASCO</cp:lastModifiedBy>
  <cp:revision>6</cp:revision>
  <dcterms:created xsi:type="dcterms:W3CDTF">2023-10-28T21:12:11Z</dcterms:created>
  <dcterms:modified xsi:type="dcterms:W3CDTF">2025-12-12T02:16:52Z</dcterms:modified>
</cp:coreProperties>
</file>